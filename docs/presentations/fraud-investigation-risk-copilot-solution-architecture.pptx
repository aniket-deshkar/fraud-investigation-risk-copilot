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9fc1566962497b" /><Relationship Type="http://schemas.openxmlformats.org/officeDocument/2006/relationships/extended-properties" Target="/docProps/app.xml" Id="R3123f49e91d14d82" /><Relationship Type="http://schemas.openxmlformats.org/officeDocument/2006/relationships/officeDocument" Target="/ppt/presentation.xml" Id="Rd82962cdc1814d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e59803c0514975"/>
  </p:sldMasterIdLst>
  <p:notesMasterIdLst>
    <p:notesMasterId xmlns:r="http://schemas.openxmlformats.org/officeDocument/2006/relationships" r:id="R11c5bda96c5a499e"/>
  </p:notesMasterIdLst>
  <p:sldIdLst>
    <p:sldId xmlns:r="http://schemas.openxmlformats.org/officeDocument/2006/relationships" id="256" r:id="R9b49c8bde2014a38"/>
    <p:sldId xmlns:r="http://schemas.openxmlformats.org/officeDocument/2006/relationships" id="257" r:id="R2d888fadb279454f"/>
    <p:sldId xmlns:r="http://schemas.openxmlformats.org/officeDocument/2006/relationships" id="258" r:id="R6d3fbdf940e74d17"/>
    <p:sldId xmlns:r="http://schemas.openxmlformats.org/officeDocument/2006/relationships" id="259" r:id="R3f369ebd93734b80"/>
    <p:sldId xmlns:r="http://schemas.openxmlformats.org/officeDocument/2006/relationships" id="260" r:id="R80b93fd3d9e44e15"/>
    <p:sldId xmlns:r="http://schemas.openxmlformats.org/officeDocument/2006/relationships" id="261" r:id="R4e377028fa8d4f1c"/>
    <p:sldId xmlns:r="http://schemas.openxmlformats.org/officeDocument/2006/relationships" id="262" r:id="Rc5ef8c6579464f56"/>
    <p:sldId xmlns:r="http://schemas.openxmlformats.org/officeDocument/2006/relationships" id="263" r:id="R9bedcfb1494d40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c04f063adf4f9a" /><Relationship Type="http://schemas.openxmlformats.org/officeDocument/2006/relationships/slideMaster" Target="/ppt/slideMasters/slideMaster1.xml" Id="Rd9e59803c0514975" /><Relationship Type="http://schemas.openxmlformats.org/officeDocument/2006/relationships/notesMaster" Target="/ppt/notesMasters/notesMaster1.xml" Id="R11c5bda96c5a499e" /><Relationship Type="http://schemas.openxmlformats.org/officeDocument/2006/relationships/presProps" Target="/ppt/presProps.xml" Id="R036b3e89a367426f" /><Relationship Type="http://schemas.openxmlformats.org/officeDocument/2006/relationships/tableStyles" Target="/ppt/tableStyles.xml" Id="R3a2fa4d500d647c2" /><Relationship Type="http://schemas.openxmlformats.org/officeDocument/2006/relationships/slide" Target="/ppt/slides/slide1.xml" Id="R9b49c8bde2014a38" /><Relationship Type="http://schemas.openxmlformats.org/officeDocument/2006/relationships/slide" Target="/ppt/slides/slide2.xml" Id="R2d888fadb279454f" /><Relationship Type="http://schemas.openxmlformats.org/officeDocument/2006/relationships/slide" Target="/ppt/slides/slide3.xml" Id="R6d3fbdf940e74d17" /><Relationship Type="http://schemas.openxmlformats.org/officeDocument/2006/relationships/slide" Target="/ppt/slides/slide4.xml" Id="R3f369ebd93734b80" /><Relationship Type="http://schemas.openxmlformats.org/officeDocument/2006/relationships/slide" Target="/ppt/slides/slide5.xml" Id="R80b93fd3d9e44e15" /><Relationship Type="http://schemas.openxmlformats.org/officeDocument/2006/relationships/slide" Target="/ppt/slides/slide6.xml" Id="R4e377028fa8d4f1c" /><Relationship Type="http://schemas.openxmlformats.org/officeDocument/2006/relationships/slide" Target="/ppt/slides/slide7.xml" Id="Rc5ef8c6579464f56" /><Relationship Type="http://schemas.openxmlformats.org/officeDocument/2006/relationships/slide" Target="/ppt/slides/slide8.xml" Id="R9bedcfb1494d40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1a6a5d17944b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0015a9e11d470b" /><Relationship Type="http://schemas.openxmlformats.org/officeDocument/2006/relationships/notesMaster" Target="/ppt/notesMasters/notesMaster1.xml" Id="Rf7e236c683824c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62dbcf452e4ab0" /><Relationship Type="http://schemas.openxmlformats.org/officeDocument/2006/relationships/notesMaster" Target="/ppt/notesMasters/notesMaster1.xml" Id="R9a9dfe7df27949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c0867146c4425d" /><Relationship Type="http://schemas.openxmlformats.org/officeDocument/2006/relationships/notesMaster" Target="/ppt/notesMasters/notesMaster1.xml" Id="R5a0c70d038a644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2276afa3f04bbf" /><Relationship Type="http://schemas.openxmlformats.org/officeDocument/2006/relationships/notesMaster" Target="/ppt/notesMasters/notesMaster1.xml" Id="Rbe1fffeab58046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2ede8e86dd4e9e" /><Relationship Type="http://schemas.openxmlformats.org/officeDocument/2006/relationships/notesMaster" Target="/ppt/notesMasters/notesMaster1.xml" Id="R5a0718f71d2545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98670f05f94a80" /><Relationship Type="http://schemas.openxmlformats.org/officeDocument/2006/relationships/notesMaster" Target="/ppt/notesMasters/notesMaster1.xml" Id="R371c7c0fc9764e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9cc5f354004045" /><Relationship Type="http://schemas.openxmlformats.org/officeDocument/2006/relationships/notesMaster" Target="/ppt/notesMasters/notesMaster1.xml" Id="R42ade974a39d4b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23d93f75de4ed9" /><Relationship Type="http://schemas.openxmlformats.org/officeDocument/2006/relationships/notesMaster" Target="/ppt/notesMasters/notesMaster1.xml" Id="R08a1f2f4d21d4b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Fraud Investigation Risk Copilot — Title and review scope</a:t>
            </a:r>
          </a:p>
          <a:p xmlns:a="http://schemas.openxmlformats.org/drawingml/2006/main">
            <a:r>
              <a:t>Sources: fraud-investigation-risk-copilot/README.md, app/domain.py, app/main.py, agentic_core/*.py, Dockerfile, docker-compose.yml, docs/HLD.drawio, docs/LLD.drawio.</a:t>
            </a:r>
          </a:p>
          <a:p xmlns:a="http://schemas.openxmlformats.org/drawingml/2006/main">
            <a:r>
              <a:t>MCP content describes the designed integration facade over existing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Fraud Investigation Risk Copilot — Problem and architecture thesis</a:t>
            </a:r>
          </a:p>
          <a:p xmlns:a="http://schemas.openxmlformats.org/drawingml/2006/main">
            <a:r>
              <a:t>Sources: fraud-investigation-risk-copilot/README.md, app/domain.py, app/main.py, agentic_core/*.py, Dockerfile, docker-compose.yml, docs/HLD.drawio, docs/LLD.drawio.</a:t>
            </a:r>
          </a:p>
          <a:p xmlns:a="http://schemas.openxmlformats.org/drawingml/2006/main">
            <a:r>
              <a:t>MCP content describes the designed integration facade over existing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Fraud Investigation Risk Copilot — High-level design</a:t>
            </a:r>
          </a:p>
          <a:p xmlns:a="http://schemas.openxmlformats.org/drawingml/2006/main">
            <a:r>
              <a:t>Sources: fraud-investigation-risk-copilot/README.md, app/domain.py, app/main.py, agentic_core/*.py, Dockerfile, docker-compose.yml, docs/HLD.drawio, docs/LLD.drawio.</a:t>
            </a:r>
          </a:p>
          <a:p xmlns:a="http://schemas.openxmlformats.org/drawingml/2006/main">
            <a:r>
              <a:t>MCP content describes the designed integration facade over existing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Fraud Investigation Risk Copilot — Low-level design</a:t>
            </a:r>
          </a:p>
          <a:p xmlns:a="http://schemas.openxmlformats.org/drawingml/2006/main">
            <a:r>
              <a:t>Sources: fraud-investigation-risk-copilot/README.md, app/domain.py, app/main.py, agentic_core/*.py, Dockerfile, docker-compose.yml, docs/HLD.drawio, docs/LLD.drawio.</a:t>
            </a:r>
          </a:p>
          <a:p xmlns:a="http://schemas.openxmlformats.org/drawingml/2006/main">
            <a:r>
              <a:t>MCP content describes the designed integration facade over existing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Fraud Investigation Risk Copilot — Agent execution sequence</a:t>
            </a:r>
          </a:p>
          <a:p xmlns:a="http://schemas.openxmlformats.org/drawingml/2006/main">
            <a:r>
              <a:t>Sources: fraud-investigation-risk-copilot/README.md, app/domain.py, app/main.py, agentic_core/*.py, Dockerfile, docker-compose.yml, docs/HLD.drawio, docs/LLD.drawio.</a:t>
            </a:r>
          </a:p>
          <a:p xmlns:a="http://schemas.openxmlformats.org/drawingml/2006/main">
            <a:r>
              <a:t>MCP content describes the designed integration facade over existing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Fraud Investigation Risk Copilot — MCP facade design</a:t>
            </a:r>
          </a:p>
          <a:p xmlns:a="http://schemas.openxmlformats.org/drawingml/2006/main">
            <a:r>
              <a:t>Sources: fraud-investigation-risk-copilot/README.md, app/domain.py, app/main.py, agentic_core/*.py, Dockerfile, docker-compose.yml, docs/HLD.drawio, docs/LLD.drawio.</a:t>
            </a:r>
          </a:p>
          <a:p xmlns:a="http://schemas.openxmlformats.org/drawingml/2006/main">
            <a:r>
              <a:t>MCP content describes the designed integration facade over existing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Fraud Investigation Risk Copilot — API and data contracts</a:t>
            </a:r>
          </a:p>
          <a:p xmlns:a="http://schemas.openxmlformats.org/drawingml/2006/main">
            <a:r>
              <a:t>Sources: fraud-investigation-risk-copilot/README.md, app/domain.py, app/main.py, agentic_core/*.py, Dockerfile, docker-compose.yml, docs/HLD.drawio, docs/LLD.drawio.</a:t>
            </a:r>
          </a:p>
          <a:p xmlns:a="http://schemas.openxmlformats.org/drawingml/2006/main">
            <a:r>
              <a:t>MCP content describes the designed integration facade over existing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Fraud Investigation Risk Copilot — Deployment, security and architect decision</a:t>
            </a:r>
          </a:p>
          <a:p xmlns:a="http://schemas.openxmlformats.org/drawingml/2006/main">
            <a:r>
              <a:t>Sources: fraud-investigation-risk-copilot/README.md, app/domain.py, app/main.py, agentic_core/*.py, Dockerfile, docker-compose.yml, docs/HLD.drawio, docs/LLD.drawio.</a:t>
            </a:r>
          </a:p>
          <a:p xmlns:a="http://schemas.openxmlformats.org/drawingml/2006/main">
            <a:r>
              <a:t>MCP content describes the designed integration facade over existing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dcf60916d4b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4d7f0fe3fd44b7" /><Relationship Type="http://schemas.openxmlformats.org/officeDocument/2006/relationships/slideLayout" Target="/ppt/slideLayouts/slideLayout1.xml" Id="Re33d1d580c204b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3d1d580c204b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97e5bb9c24670" /><Relationship Type="http://schemas.openxmlformats.org/officeDocument/2006/relationships/notesSlide" Target="/ppt/notesSlides/notesSlide1.xml" Id="R73b8c044807e4e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0fa33826d425f" /><Relationship Type="http://schemas.openxmlformats.org/officeDocument/2006/relationships/notesSlide" Target="/ppt/notesSlides/notesSlide2.xml" Id="R9a66ad1febbe4f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1e2b444224dbe" /><Relationship Type="http://schemas.openxmlformats.org/officeDocument/2006/relationships/notesSlide" Target="/ppt/notesSlides/notesSlide3.xml" Id="R7d280cc364924e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6ad3672794f32" /><Relationship Type="http://schemas.openxmlformats.org/officeDocument/2006/relationships/notesSlide" Target="/ppt/notesSlides/notesSlide4.xml" Id="R014cb878390442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328ac75e0495e" /><Relationship Type="http://schemas.openxmlformats.org/officeDocument/2006/relationships/notesSlide" Target="/ppt/notesSlides/notesSlide5.xml" Id="R5f2b8b11d8604e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9ee9a3d2f4c8a" /><Relationship Type="http://schemas.openxmlformats.org/officeDocument/2006/relationships/notesSlide" Target="/ppt/notesSlides/notesSlide6.xml" Id="R07e87958f8dd45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27fa59b7d4d72" /><Relationship Type="http://schemas.openxmlformats.org/officeDocument/2006/relationships/notesSlide" Target="/ppt/notesSlides/notesSlide7.xml" Id="R79c299e484a94f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bc15fce314d0d" /><Relationship Type="http://schemas.openxmlformats.org/officeDocument/2006/relationships/notesSlide" Target="/ppt/notesSlides/notesSlide8.xml" Id="Rdc08bb6ca6284b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ABF55-670C-43B7-AE20-CDAAC617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159CA-370F-4D5F-8828-6D6B6C4F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E27B7-8188-4A1B-BEE1-E6E4B7C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942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Fraud Investigation Risk Copilot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64547-8AE8-4277-BA3C-5738C18A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923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Fraud risk | HLD, LLD, agent workflow, APIs and MCP facade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07C69-3772-43C2-8A89-30403C09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Architecture review deck</a:t>
            </a:r>
          </a:p>
        </p:txBody>
      </p:sp>
    </p:spTree>
    <p:extLst>
      <p:ext uri="{BB962C8B-B14F-4D97-AF65-F5344CB8AC3E}">
        <p14:creationId xmlns:p14="http://schemas.microsoft.com/office/powerpoint/2010/main" val="1062884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3C56A-69AE-4288-B743-940EB07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Decision truth stays deterministic; AI makes it legible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CB401-897D-45C2-9086-7E58FECA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CE764-550C-4B13-8614-EA4C127E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C7F07-B77C-455D-AF42-76942829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97293-C3B0-4766-92BB-5D1E304D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Analysts need to correlate transaction, customer, device, and counterparty signals before prioritizing high-volume alerts.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D2188-8567-4957-AA05-2D6F1938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5429250" cy="17335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79A2D-B14B-48EA-B7CE-FFD78F79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Deterministic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44192-9EC6-49F6-9D9F-08A4F64A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5086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Explicit risk thresholds and reproducible alert prioritization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23F3C-7987-43F4-B685-626FC468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57150" cy="1733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C1619-6B09-45A5-AEDA-3C3AA4B6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5429250" cy="17335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2789B-9301-4A8D-90AD-2097FC8D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33700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Evidence-backed narrative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6539D-6D7E-451B-A130-BD0AA71A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5086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GPT-5.6 Luna receives the computed result and verified evidence, then returns a typed explanation for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A8689-1FAF-4681-BCDE-177C21B4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57150" cy="1733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65349-61E8-415B-86B7-35F93D28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Architectural outcome: risk alerts and analyst review queue with an inspectable graph trace and fraud analyst approval.</a:t>
            </a:r>
          </a:p>
        </p:txBody>
      </p:sp>
    </p:spTree>
    <p:extLst>
      <p:ext uri="{BB962C8B-B14F-4D97-AF65-F5344CB8AC3E}">
        <p14:creationId xmlns:p14="http://schemas.microsoft.com/office/powerpoint/2010/main" val="1749044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AD03A0-8E8A-452C-AC1C-0DB02710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HLD: one controlled path connects channels, decisions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BD7D7-F8A4-4C13-8059-3EC28457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9C20D-63F5-40F8-9D81-EBB65148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CA6BD-A85A-4CC5-A475-11792BAE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92C01-933F-430C-87E9-C130C80B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714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0B35D-4957-4144-B7DB-39DE2F5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Next.js console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7322E-A859-4F3C-8221-C91362ED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Operator interaction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E7E04-E39B-4E4C-B98B-93002D8E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95500"/>
            <a:ext cx="18097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31579-443B-4117-B508-6917098D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2885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FastAPI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4BDE7-77E4-4942-A414-76003A65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479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REST API :8103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B428D-A63A-4431-9989-29EC7A11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1714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A1CE1-62DB-4894-A831-A32CBB65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LangGraph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F5B0E-C417-4B6D-95DC-DB5FFB13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Bounded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F0823-929F-4C65-BCD6-1706900B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66875"/>
            <a:ext cx="2000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2B492-0400-44F0-A9E9-C8990326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8002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Policy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59503-B5A6-45FD-99CE-46EE8B6F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19325"/>
            <a:ext cx="1657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Explicit risk thresholds and reproducible alert prioritization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1153A8-9171-4148-AE25-A67AB48D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66875"/>
            <a:ext cx="20764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13A29-C518-4C2D-82EB-2D3FB0B3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022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OpenAI narrator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F8E9F-66A9-45EA-8FB4-A47FEED6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19325"/>
            <a:ext cx="17335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Typed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3B8577-87D4-478B-8311-DAB87C3E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20002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C3BDF-8E33-45E4-B5AC-D6F44523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386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73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SQLAlchemy + SQLite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34175-ADE1-4217-8A89-7A445A6B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57700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Runs, evidence and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5A5F7-8E15-4C04-9EC2-BC7C7C7A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20764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A5DDE-9BC8-4A82-BE3A-19C79EDF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386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Langfuse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644C45-96C3-48D3-BF1B-AC1DDAE9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57700"/>
            <a:ext cx="1733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Model trace and metadata</a:t>
            </a:r>
          </a:p>
        </p:txBody>
      </p:sp>
      <p:cxnSp>
        <p:nvCxnSpPr>
          <p:cNvPr id="5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14550" y="25717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273"/>
            </a:solidFill>
            <a:prstDash val="soli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29125" y="25717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273"/>
            </a:solidFill>
            <a:prstDash val="solid"/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667500" y="2357438"/>
            <a:ext cx="523875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191625" y="23574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11" idx="2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810250" y="3048000"/>
            <a:ext cx="1381125" cy="1404938"/>
          </a:xfrm>
          <a:prstGeom xmlns:a="http://schemas.openxmlformats.org/drawingml/2006/main" prst="bentConnector5">
            <a:avLst>
              <a:gd name="adj1" fmla="val 0"/>
              <a:gd name="adj2" fmla="val 16271"/>
              <a:gd name="adj3" fmla="val 83448"/>
            </a:avLst>
          </a:prstGeom>
          <a:ln xmlns:a="http://schemas.openxmlformats.org/drawingml/2006/main" w="19050">
            <a:solidFill>
              <a:srgbClr val="536273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17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753725" y="3048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273"/>
            </a:solidFill>
            <a:prstDash val="dash"/>
            <a:tailEnd type="arrow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69CE98-2FBA-4A58-A141-94F961A4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57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Trust boundary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96C7FA-EF23-45B6-B9AF-70B85E0B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LLM explains a recorded result; policy code owns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2103566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337691-D7DC-45A0-B5BF-59876DE3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LLD: responsibilities are isolated and testable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EFB43-BB94-4787-8684-392CDF25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3F661-FD42-4D1A-AA5B-9094D55F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3A376-1C32-4D51-9A3A-950B22BB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3AF5F-AF56-435B-A8D0-3FD521FF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429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655F1-5081-4EBF-9986-8E0066CF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app/main.py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F9AF7-1078-490F-893C-FBEC4F84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HTTP contracts, CORS, health and review endpoints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724CE-1264-43EA-BAE6-10E35902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6FB38-AE4E-4536-B46A-397D5456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5429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583DD-72CE-4742-BAF7-7BAA047C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52600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app/domain.py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52FC3-F4E3-4EE4-9D5A-F5A5C611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get_transaction_signals tool, evidence mapping and deterministic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2CF00-DF0A-46BD-9144-AEE22E6B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E6293-CAA7-48F5-89C3-C517322D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5429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CEF78-6517-48B7-982E-48B7327A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workflow.py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4B661-0D49-4D11-95D5-CCFD58E2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StateGraph nodes and explicit execution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ED825-573A-4ED6-B25F-83DD2F77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C4CDF-9285-4357-AF02-98E6F14F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5429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7ACF8-ED9D-4B0B-975C-E74EC187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narration.py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6BB04-AD3D-4AB6-AB05-A5B36D68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242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GPT-5.6 Luna structured Explanation 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8250B-366E-4E4F-A5EF-CD99938A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7907A-BE04-40D6-9789-8ED10E95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5429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C78BE-7A06-494C-8240-E8C35E67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store.py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EBCBB-28BB-4041-9761-FD20373E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SQLAlchemy repository for AgentRun lifecycle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B16DD-0CB4-4872-B7FD-1341AE4B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A6E2C-BCA3-4492-A2BB-EC0579DE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5429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75600-3AF5-4550-B934-B5B97845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57700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contracts.py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D54C50-466B-4B39-8ADB-300D24D8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7680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Pydantic evidence, run, explanation and review models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C84E19-D58F-44A0-AEDD-FBA690BF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D65988-C2BC-44B4-B3C1-7430DDEE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Domain state: Transaction, RiskFeature, RiskAlert, InvestigationCase</a:t>
            </a:r>
          </a:p>
        </p:txBody>
      </p:sp>
    </p:spTree>
    <p:extLst>
      <p:ext uri="{BB962C8B-B14F-4D97-AF65-F5344CB8AC3E}">
        <p14:creationId xmlns:p14="http://schemas.microsoft.com/office/powerpoint/2010/main" val="12192621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336957-9256-4EC9-8DCE-9DE53B92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Every run follows a bounded, resumable decision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EEB6C-C069-4E9C-AA98-BA1AFA57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FA4B7-6B92-4828-8844-6F0F4AD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9D841-BB8D-4C8A-B649-C886ED4D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A6441-9038-43D5-9F0A-DBA215C0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8669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8B00F-B149-49EB-9C98-58BF6475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5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01  Collect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55AA4-A73C-4206-B345-0ECF2BDB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Transaction value, velocity, device and account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DA6F2-201D-4474-9BB0-DD8262EF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76500"/>
            <a:ext cx="18669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631E2-8A35-4137-913C-689988A6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609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02  Apply 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F3CA3-3CDF-43D6-A5D7-E76DB8FA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289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Explicit risk thresholds and reproducible alert prioritization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9254B-524E-4FCE-BB1E-8C6ECA50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18669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B64E7-9670-48A2-8597-F00CC32A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09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03  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D4627-E59D-4E64-991A-83922CC0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Typed Luna narrative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6DC02-4BCD-4D52-9F4D-85D6F3FF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76500"/>
            <a:ext cx="18669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F372A-402C-4728-9230-C1AD4E6B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609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04  Persist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659D5-FE3D-4B01-BDAA-670C86AE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289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Run, evidence and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A1764-0753-4AA2-9A0E-6EE9B2C3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8669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4280F-284D-49AE-AC1A-AAB5AE28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09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05 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E7B0B-3743-4E1E-B16F-2AD9BB95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Fraud analyst decision</a:t>
            </a:r>
          </a:p>
        </p:txBody>
      </p:sp>
      <p:cxnSp>
        <p:nvCxnSpPr>
          <p:cNvPr id="4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32861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43425" y="32861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819900" y="32861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096375" y="32861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  <a:tail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DC046-74D8-458E-8384-DCF7F3E2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Trace emitted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8617A-59EC-4A66-A5A9-D74C0700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4767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Decision truth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6A7B3-445B-46CC-95F0-811F0F77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767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962B73-2950-4BF8-A9B6-88882DBE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4767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Audit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1EF690-AF8B-4A8E-A75A-EC0F17B7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767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Human authority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D19B80-C875-4290-987E-8A00ABCA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Failure handling preserves the deterministic result and the evidence collected before narration.</a:t>
            </a:r>
          </a:p>
        </p:txBody>
      </p:sp>
    </p:spTree>
    <p:extLst>
      <p:ext uri="{BB962C8B-B14F-4D97-AF65-F5344CB8AC3E}">
        <p14:creationId xmlns:p14="http://schemas.microsoft.com/office/powerpoint/2010/main" val="13994702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4A1842-7D3C-4EC2-A03F-3C6B3F50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MCP facade: expose controlled capabilities without duplicating domain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CF9D0-8278-4F2A-B08F-C0F206E1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INTEGRATION EXTENSION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0840D-EFE6-475C-8E4D-E32F31CB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CAC5F-3140-401D-8130-CD5B4354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D64A5-D9D5-47A4-81A9-0B2DD2BB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238375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1A4B6-E52E-4BE9-9907-081E170D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895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MCP clients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066E6-6E9F-4753-997A-B18C11CD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ChatGPT, IDE agent, operations assistant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750ED-04B2-4914-9111-31D18CB6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6670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2DE50-E847-40E1-B614-46C8E7A1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431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MCP server adapter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B5566-9158-4B10-84BB-F20CE1B0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Authentication, schemas, consent and audit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41BD4-B382-4425-9F3B-6F9E0535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47875"/>
            <a:ext cx="2381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77B22-B252-4A65-99A2-71A54679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812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5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Existing FastAPI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F2D9C-A7C3-4D80-A494-397AAF8E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600325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Reuses application and domain boundaries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0B014-2143-4605-990B-2EC5D7E0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47875"/>
            <a:ext cx="19812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49F46-DE3E-48DA-B816-50D3C4BA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812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Domain + agent 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B4AEB-1520-42B8-9B3F-46BF63EE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00325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Policy, graph, model and persistence</a:t>
            </a:r>
          </a:p>
        </p:txBody>
      </p:sp>
      <p:cxnSp>
        <p:nvCxnSpPr>
          <p:cNvPr id="4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38425" y="261937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00750" y="26193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096375" y="26193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2EEC9-8C51-4667-8F91-4AABB014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A4D4DF-C07D-4F47-976F-5B65227B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C5379-DD8E-4AE1-A4E0-4B3CF23C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3086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analyze_scenario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get_analysis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review_analysis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9C5AFC-8138-4706-AAC3-C6C458A1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1A35DD-2980-4B9A-BD45-7EDB4373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4B8DB1-8133-463F-9110-FB7650E0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Resources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DC5202-1CD8-4FD4-B2F8-3CBF81E8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3086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run://{run_id}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evidence://{run_id}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architecture://service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54EB42-0B21-4BBF-A965-D5232B18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05B1B-4C09-4FDF-B961-526141A7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3429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233E52-2DD6-446D-A2F3-3393BF3B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291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A32CF8-637B-42CC-BDF1-724C2734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48200"/>
            <a:ext cx="3086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OAuth scopes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Pydantic schemas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review consent + 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8BE182-EEB0-484A-9586-54712104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9208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6498A-9803-4750-BDD2-3E47829B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API contract is small, versioned and aligned to the review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BF758-C33C-40ED-AF9D-9A7A0D5E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F8D92-1565-4417-BBBC-B29B4C94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9D5CF-A2CF-49CD-AC89-07BFF3F7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75247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00125"/>
                <a:gridCol w="3857625"/>
                <a:gridCol w="266700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Endpoint</a:t>
                      </a:r>
                    </a:p>
                  </a:txBody>
                  <a:tcPr marL="91440" marR="91440" marT="45720" marB="45720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DC262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/health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Service and model readiness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/api/v1/analyses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Create and persist an agent run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/api/v1/analyses/{run_id}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Retrieve evidence and trace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/api/v1/analyses/{run_id}/review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Aptos"/>
                          <a:ea typeface="Aptos"/>
                          <a:cs typeface="Aptos"/>
                        </a:rPr>
                        <a:t>Approve or reject with a note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700D4-C8E8-437B-91AD-C2E23F86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66875"/>
            <a:ext cx="3390900" cy="3429000"/>
          </a:xfrm>
          <a:prstGeom xmlns:a="http://schemas.openxmlformats.org/drawingml/2006/main" prst="roundRect">
            <a:avLst>
              <a:gd name="adj" fmla="val 16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72688-A17A-4AA4-8EEC-373B50A3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02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AgentRun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79557-E3C9-483B-B323-EADFE505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19325"/>
            <a:ext cx="304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run_id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domain + request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deterministic_result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evidence[] + explanation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trace[] + model_mode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status + reviewer_note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EFEAD-3C17-4F5E-B6F1-B15E8309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66875"/>
            <a:ext cx="5715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BC2AA-10C9-4675-B635-0366EB24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Primary output: Risk alerts and analyst review queue.</a:t>
            </a:r>
          </a:p>
        </p:txBody>
      </p:sp>
    </p:spTree>
    <p:extLst>
      <p:ext uri="{BB962C8B-B14F-4D97-AF65-F5344CB8AC3E}">
        <p14:creationId xmlns:p14="http://schemas.microsoft.com/office/powerpoint/2010/main" val="8836792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6933F-AD9B-47BF-8A24-ED9CA00B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Deployment and operational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545B9-E99E-44E9-B4F6-15E47858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2766D-4E15-43B9-9BB4-032FD8FA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C6A2C-0F7B-4822-A6BF-C8562B6E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7D78B-B469-4FF1-9D10-3AEBEF48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5717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3A5A4-85E3-4FB7-A3D3-C7498EDA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8798F-EBBC-4609-AED0-818296A7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228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Python 3.12+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FastAPI + Uvicorn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Docker / Compose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Host port 8103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993CB-60CC-48C1-ACCF-94E74EE6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71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B6F6B-DBAF-400E-8CBC-105B04E8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5717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AABD5-42BB-4106-B577-573B1EB4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478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73683-A0F5-4522-9CE9-DFFB7E58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228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SQLAlchemy repository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SQLite volume profile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AgentRun audit record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PostgreSQL evolution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EE82F-CE7B-4D35-AC8A-26E54583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571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B3E1A-4B9A-4EDB-85B0-8E149D47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25717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279D2-3835-48CB-8A59-0B859E15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478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F5BD5-8D6C-429D-B488-6D2503A1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2228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Environment secrets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CORS allowlist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Typed input validation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Human review authority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FDE2C-9409-414E-A45B-214C76C0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571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85CB3-0F2B-4453-9640-4B20880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14500"/>
            <a:ext cx="25908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1B8EF-86D4-4432-8B74-6226437D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478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FE4D6-CC6D-44C5-8323-291CD84A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22479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Health endpoint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Explicit graph trace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Langfuse model trace</a:t>
            </a:r>
          </a:p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Structured audit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8BAEF-3109-4CC9-B1F4-0FE77A4C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14500"/>
            <a:ext cx="571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9591B-B817-4185-9B54-A8330CCD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Architecture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8EB7F-760B-4319-B53C-ECEFA74A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Keep domain policy deterministic and reusable; add channels such as MCP as adapters around the same application boundary.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6A3AD-5190-4F15-9F2D-6E3F3A15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273"/>
                </a:solidFill>
                <a:latin typeface="Aptos"/>
                <a:ea typeface="Aptos"/>
                <a:cs typeface="Aptos"/>
              </a:rPr>
              <a:t>Validation surface: workflow tests, API lifecycle tests, mocked Luna structured output, Docker Compose and browser console.</a:t>
            </a:r>
          </a:p>
        </p:txBody>
      </p:sp>
    </p:spTree>
    <p:extLst>
      <p:ext uri="{BB962C8B-B14F-4D97-AF65-F5344CB8AC3E}">
        <p14:creationId xmlns:p14="http://schemas.microsoft.com/office/powerpoint/2010/main" val="2098684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2026-08-10T17:09:59.0220000Z</dcterms:created>
  <dcterms:modified xsi:type="dcterms:W3CDTF">2026-08-10T17:09:59.0220000Z</dcterms:modified>
</coreProperties>
</file>